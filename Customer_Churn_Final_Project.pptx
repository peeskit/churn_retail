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47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E2A47"/>
                </a:solidFill>
                <a:latin typeface="Calibri"/>
              </a:rPr>
              <a:t>Cross-model metrics on hold-out test set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E2A4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LGBM</c:v>
                </c:pt>
                <c:pt idx="1">
                  <c:v>XGBoost</c:v>
                </c:pt>
                <c:pt idx="2">
                  <c:v>ANN</c:v>
                </c:pt>
                <c:pt idx="3">
                  <c:v>LSTM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0.7631</c:v>
                </c:pt>
                <c:pt idx="1">
                  <c:v>0.76190000000000002</c:v>
                </c:pt>
                <c:pt idx="2">
                  <c:v>0.75149999999999995</c:v>
                </c:pt>
                <c:pt idx="3">
                  <c:v>0.72819999999999996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E1-4D4D-B81E-35759814A0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LGBM</c:v>
                </c:pt>
                <c:pt idx="1">
                  <c:v>XGBoost</c:v>
                </c:pt>
                <c:pt idx="2">
                  <c:v>ANN</c:v>
                </c:pt>
                <c:pt idx="3">
                  <c:v>LSTM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0.6845</c:v>
                </c:pt>
                <c:pt idx="1">
                  <c:v>0.68049999999999999</c:v>
                </c:pt>
                <c:pt idx="2">
                  <c:v>0.68830000000000002</c:v>
                </c:pt>
                <c:pt idx="3">
                  <c:v>0.67879999999999996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E1-4D4D-B81E-35759814A07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LGBM</c:v>
                </c:pt>
                <c:pt idx="1">
                  <c:v>XGBoost</c:v>
                </c:pt>
                <c:pt idx="2">
                  <c:v>ANN</c:v>
                </c:pt>
                <c:pt idx="3">
                  <c:v>LSTM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0.67589999999999995</c:v>
                </c:pt>
                <c:pt idx="1">
                  <c:v>0.70450000000000002</c:v>
                </c:pt>
                <c:pt idx="2">
                  <c:v>0.70269999999999999</c:v>
                </c:pt>
                <c:pt idx="3">
                  <c:v>0.62160000000000004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2E1-4D4D-B81E-35759814A07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LGBM</c:v>
                </c:pt>
                <c:pt idx="1">
                  <c:v>XGBoost</c:v>
                </c:pt>
                <c:pt idx="2">
                  <c:v>ANN</c:v>
                </c:pt>
                <c:pt idx="3">
                  <c:v>LSTM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0.69340000000000002</c:v>
                </c:pt>
                <c:pt idx="1">
                  <c:v>0.65800000000000003</c:v>
                </c:pt>
                <c:pt idx="2">
                  <c:v>0.67449999999999999</c:v>
                </c:pt>
                <c:pt idx="3">
                  <c:v>0.74760000000000004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2E1-4D4D-B81E-35759814A0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 Light"/>
              </a:defRPr>
            </a:pPr>
            <a:endParaRPr lang="en-TH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 Light"/>
              </a:defRPr>
            </a:pPr>
            <a:endParaRPr lang="en-TH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  <a:latin typeface="Calibri Light"/>
              <a:cs typeface="Calibri Light"/>
            </a:defRPr>
          </a:pPr>
          <a:endParaRPr lang="en-TH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47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E2A47"/>
                </a:solidFill>
                <a:latin typeface="Calibri"/>
              </a:rPr>
              <a:t>LightGBM — top 10 feature importances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E2A47"/>
                    </a:solidFill>
                    <a:latin typeface="Arial"/>
                  </a:defRPr>
                </a:pPr>
                <a:endParaRPr lang="en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recency</c:v>
                </c:pt>
                <c:pt idx="1">
                  <c:v>unique_skus</c:v>
                </c:pt>
                <c:pt idx="2">
                  <c:v>monetary</c:v>
                </c:pt>
                <c:pt idx="3">
                  <c:v>purchase_rate</c:v>
                </c:pt>
                <c:pt idx="4">
                  <c:v>std_dow</c:v>
                </c:pt>
                <c:pt idx="5">
                  <c:v>tenure_days</c:v>
                </c:pt>
                <c:pt idx="6">
                  <c:v>rev_last60d</c:v>
                </c:pt>
                <c:pt idx="7">
                  <c:v>unique_sku_last90d</c:v>
                </c:pt>
                <c:pt idx="8">
                  <c:v>frequency</c:v>
                </c:pt>
                <c:pt idx="9">
                  <c:v>cv_gap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0.16300000000000001</c:v>
                </c:pt>
                <c:pt idx="1">
                  <c:v>0.14000000000000001</c:v>
                </c:pt>
                <c:pt idx="2">
                  <c:v>0.13300000000000001</c:v>
                </c:pt>
                <c:pt idx="3">
                  <c:v>8.5999999999999993E-2</c:v>
                </c:pt>
                <c:pt idx="4">
                  <c:v>8.1000000000000003E-2</c:v>
                </c:pt>
                <c:pt idx="5">
                  <c:v>7.6999999999999999E-2</c:v>
                </c:pt>
                <c:pt idx="6">
                  <c:v>5.7000000000000002E-2</c:v>
                </c:pt>
                <c:pt idx="7">
                  <c:v>4.8000000000000001E-2</c:v>
                </c:pt>
                <c:pt idx="8">
                  <c:v>4.7E-2</c:v>
                </c:pt>
                <c:pt idx="9">
                  <c:v>4.4999999999999998E-2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FF-974B-8766-1391CD8DDF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Courier New"/>
              </a:defRPr>
            </a:pPr>
            <a:endParaRPr lang="en-TH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 Light"/>
              </a:defRPr>
            </a:pPr>
            <a:endParaRPr lang="en-TH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99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23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EC683 FINAL PROJECT  •  MACHINE LEARNING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Personalized Retention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end-to-end machine-learning pipeline on the UCI Online Retail II dataset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526280"/>
            <a:ext cx="73152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Peerachai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April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89788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4,302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17220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80944" y="589788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52.4%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80944" y="617220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47488" y="589788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£1.35M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47488" y="617220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at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14032" y="589788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14032" y="617220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80576" y="589788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0.763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0576" y="617220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AUC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657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PROBLEM &amp; MOTIVATION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 Churn?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Acquiring a new customer costs 5–7× more than retaining an existing one. For online retailers operating on thin margins, even small reductions in churn translate into meaningful revenue protection.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this project addresses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Which customers are most likely to stop purchasing?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behavioural signals predict churn earliest?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do we route a personalized offer to each at-risk customer?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691640"/>
            <a:ext cx="5029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691640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2011680"/>
            <a:ext cx="777240" cy="77724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19456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63840" y="1874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E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52.4%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7863840" y="2468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863840" y="2743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2,254 of 4,302 in scope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0" y="3273552"/>
            <a:ext cx="5029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83680" y="3273552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03720" y="3593592"/>
            <a:ext cx="777240" cy="77724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776472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863840" y="345643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E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£1.35M</a:t>
            </a:r>
            <a:endParaRPr lang="en-US" sz="3600" dirty="0"/>
          </a:p>
        </p:txBody>
      </p:sp>
      <p:sp>
        <p:nvSpPr>
          <p:cNvPr id="22" name="Text 18"/>
          <p:cNvSpPr/>
          <p:nvPr/>
        </p:nvSpPr>
        <p:spPr>
          <a:xfrm>
            <a:off x="7863840" y="40507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863840" y="4325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16% of £8.45M total revenue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583680" y="4855464"/>
            <a:ext cx="5029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583680" y="4855464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903720" y="5175504"/>
            <a:ext cx="777240" cy="77724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5358384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863840" y="503834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E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</a:t>
            </a:r>
            <a:endParaRPr lang="en-US" sz="3600" dirty="0"/>
          </a:p>
        </p:txBody>
      </p:sp>
      <p:sp>
        <p:nvSpPr>
          <p:cNvPr id="29" name="Text 24"/>
          <p:cNvSpPr/>
          <p:nvPr/>
        </p:nvSpPr>
        <p:spPr>
          <a:xfrm>
            <a:off x="7863840" y="56327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reached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863840" y="59070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UK-anchored, global tail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  •  Final Project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657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Online Retail II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Two-sheet transactional dataset of a UK-based, registered online retail business — primarily wholesalers — covering Dec 2009 to Dec 2011.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2606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E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£8.45M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743200"/>
            <a:ext cx="2606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E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29000" y="33375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2606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950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E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5800" y="44348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3840480"/>
            <a:ext cx="2606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3950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E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yrs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429000" y="44348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 span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057400"/>
          <a:ext cx="5120640" cy="28803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Column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Description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Invoice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Transaction ID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StockCode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Product code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Description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Product name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Quantity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Units purchased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InvoiceDate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Transaction timestamp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Price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Unit price (GBP)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Customer ID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Unique customer identifier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Country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Customer country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  •  Final Project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657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1734769" cy="219456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1734769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31136"/>
            <a:ext cx="17347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985" y="274320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474720"/>
            <a:ext cx="17347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" y="3822192"/>
            <a:ext cx="1551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XLSX sheets → concat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549" y="3200400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420569" y="2194560"/>
            <a:ext cx="1734769" cy="219456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20569" y="2194560"/>
            <a:ext cx="1734769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420569" y="2231136"/>
            <a:ext cx="17347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7914" y="274320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20569" y="3474720"/>
            <a:ext cx="17347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2512009" y="3822192"/>
            <a:ext cx="1551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Drop cancellations, NaNs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478" y="320040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292498" y="2194560"/>
            <a:ext cx="1734769" cy="219456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292498" y="2194560"/>
            <a:ext cx="1734769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292498" y="2231136"/>
            <a:ext cx="17347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843" y="2743200"/>
            <a:ext cx="640080" cy="6400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292498" y="3474720"/>
            <a:ext cx="17347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4383938" y="3822192"/>
            <a:ext cx="1551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RFM + rolling windows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408" y="3200400"/>
            <a:ext cx="182880" cy="1828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64428" y="2194560"/>
            <a:ext cx="1734769" cy="219456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164428" y="2194560"/>
            <a:ext cx="1734769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164428" y="2231136"/>
            <a:ext cx="17347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1772" y="2743200"/>
            <a:ext cx="640080" cy="6400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164428" y="3474720"/>
            <a:ext cx="17347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700" dirty="0"/>
          </a:p>
        </p:txBody>
      </p:sp>
      <p:sp>
        <p:nvSpPr>
          <p:cNvPr id="33" name="Text 24"/>
          <p:cNvSpPr/>
          <p:nvPr/>
        </p:nvSpPr>
        <p:spPr>
          <a:xfrm>
            <a:off x="6255868" y="3822192"/>
            <a:ext cx="1551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VIF + Mutual Info</a:t>
            </a:r>
            <a:endParaRPr lang="en-US" sz="10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6337" y="3200400"/>
            <a:ext cx="182880" cy="18288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8036357" y="2194560"/>
            <a:ext cx="1734769" cy="219456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8036357" y="2194560"/>
            <a:ext cx="1734769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8036357" y="2231136"/>
            <a:ext cx="17347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3701" y="2743200"/>
            <a:ext cx="640080" cy="6400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036357" y="3474720"/>
            <a:ext cx="17347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700" dirty="0"/>
          </a:p>
        </p:txBody>
      </p:sp>
      <p:sp>
        <p:nvSpPr>
          <p:cNvPr id="40" name="Text 29"/>
          <p:cNvSpPr/>
          <p:nvPr/>
        </p:nvSpPr>
        <p:spPr>
          <a:xfrm>
            <a:off x="8127797" y="3822192"/>
            <a:ext cx="1551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LGBM / XGB / ANN / LSTM</a:t>
            </a:r>
            <a:endParaRPr lang="en-US" sz="10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8266" y="3200400"/>
            <a:ext cx="182880" cy="182880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9908286" y="2194560"/>
            <a:ext cx="1734769" cy="219456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43" name="Shape 31"/>
          <p:cNvSpPr/>
          <p:nvPr/>
        </p:nvSpPr>
        <p:spPr>
          <a:xfrm>
            <a:off x="9908286" y="2194560"/>
            <a:ext cx="1734769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32"/>
          <p:cNvSpPr/>
          <p:nvPr/>
        </p:nvSpPr>
        <p:spPr>
          <a:xfrm>
            <a:off x="9908286" y="2231136"/>
            <a:ext cx="17347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5631" y="2743200"/>
            <a:ext cx="640080" cy="64008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9908286" y="3474720"/>
            <a:ext cx="17347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700" dirty="0"/>
          </a:p>
        </p:txBody>
      </p:sp>
      <p:sp>
        <p:nvSpPr>
          <p:cNvPr id="47" name="Text 34"/>
          <p:cNvSpPr/>
          <p:nvPr/>
        </p:nvSpPr>
        <p:spPr>
          <a:xfrm>
            <a:off x="9999726" y="3822192"/>
            <a:ext cx="1551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Apriori + value tiers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548640" y="4846320"/>
            <a:ext cx="1109441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548640" y="4846320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77724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200" dirty="0"/>
          </a:p>
        </p:txBody>
      </p:sp>
      <p:sp>
        <p:nvSpPr>
          <p:cNvPr id="51" name="Text 38"/>
          <p:cNvSpPr/>
          <p:nvPr/>
        </p:nvSpPr>
        <p:spPr>
          <a:xfrm>
            <a:off x="777240" y="5212080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Churn defined as ≥ 90 days </a:t>
            </a: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inactivity, with features built from a 365-day observation window. </a:t>
            </a:r>
            <a:r>
              <a:rPr lang="en-US" sz="12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Modular Python pipeline </a:t>
            </a: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(loader → cleaner → engineer → selector → trainer → recommender) — each stage independently testable. Outputs are persisted (CSV, JSON, .pkl, .keras) so the dashboard layer (FastAPI + React) can serve results without re-training.</a:t>
            </a:r>
            <a:endParaRPr lang="en-US" sz="1200" dirty="0"/>
          </a:p>
        </p:txBody>
      </p:sp>
      <p:sp>
        <p:nvSpPr>
          <p:cNvPr id="52" name="Text 3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  •  Final Project</a:t>
            </a:r>
            <a:endParaRPr lang="en-US" sz="900" dirty="0"/>
          </a:p>
        </p:txBody>
      </p:sp>
      <p:sp>
        <p:nvSpPr>
          <p:cNvPr id="53" name="Text 40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657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REPRESENTING THE CUSTOMER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3703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91640"/>
            <a:ext cx="3703320" cy="59436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10512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874520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8379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Core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2468880"/>
            <a:ext cx="3337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Recency — days since last purchase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Frequency — total transaction count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Monetary — total spend in GBP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Tenure — days since first purchase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9120" y="1691640"/>
            <a:ext cx="3703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1691640"/>
            <a:ext cx="3703320" cy="59436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1810512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1874520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29200" y="18379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Windows (30/60/90 d)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617720" y="2468880"/>
            <a:ext cx="3337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Revenue, transaction count, quantity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Unique SKUs touched in window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acceleration (recent vs prior)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229600" y="1691640"/>
            <a:ext cx="3703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0" y="1691640"/>
            <a:ext cx="3703320" cy="59436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412480" y="1810512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1874520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869680" y="18379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&amp; Cadence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458200" y="2468880"/>
            <a:ext cx="3337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Avg / std / CV of inter-purchase gap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Std day-of-week — purchase regularity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Avg basket size, unique SKUs lifetime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5074920"/>
            <a:ext cx="11094415" cy="1234440"/>
          </a:xfrm>
          <a:prstGeom prst="rect">
            <a:avLst/>
          </a:prstGeom>
          <a:solidFill>
            <a:srgbClr val="EAF2F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8640" y="5074920"/>
            <a:ext cx="9144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77240" y="5184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monthly sequences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parallel to the tabular features above, each customer is also represented as a 6-month sequence of [revenue, txn_count, qty, unique_sku, avg_price] — fed to the LSTM head to capture temporal trajectory rather than a static snapshot.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  •  Final Project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657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PRUNING TO SIGNAL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5303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40280"/>
            <a:ext cx="777240" cy="77724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37360" y="2194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Collinearity Pruning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25603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Iteratively drop features with Variance Inflation Factor &gt; 10 to avoid multicollinearity.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035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931920"/>
            <a:ext cx="777240" cy="77724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737360" y="3886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by Mutual Information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4251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Rank surviving features by MI with the churn label and keep the top 15.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691640"/>
            <a:ext cx="5486400" cy="5029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Selected Features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2377440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377440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2377440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16240" y="2377440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16240" y="2377440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5112" y="2377440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723120" y="2377440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3120" y="2377440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41992" y="2377440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monetary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944368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944368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2944368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tenure_days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16240" y="2944368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16240" y="2944368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5112" y="2944368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purchase_rate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723120" y="2944368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23120" y="2944368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41992" y="2944368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unique_skus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3511296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3511296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3511296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txn_last30d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16240" y="3511296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16240" y="3511296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35112" y="3511296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qty_last30d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723120" y="3511296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23120" y="3511296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41992" y="3511296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accel_rev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09360" y="4078224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4078224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232" y="4078224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std_gap_days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016240" y="4078224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16240" y="4078224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35112" y="4078224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cv_gap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723120" y="4078224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23120" y="4078224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41992" y="4078224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std_dow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09360" y="4645152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9360" y="4645152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28232" y="4645152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rev_last60d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016240" y="4645152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16240" y="4645152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35112" y="4645152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unique_sku_last30d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723120" y="4645152"/>
            <a:ext cx="161544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723120" y="4645152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41992" y="4645152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unique_sku_last90d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  •  Final Project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657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MODELING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Models, Two Paradigms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27889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91640"/>
            <a:ext cx="278892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103120"/>
            <a:ext cx="960120" cy="96012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33172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85800" y="3657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Gradient Boosted Trees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16052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Histogram-based GBDT. Fast on tabular data; handles non-linear feature interactions natively.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56432" y="1691640"/>
            <a:ext cx="27889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56432" y="1691640"/>
            <a:ext cx="278892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70832" y="2103120"/>
            <a:ext cx="960120" cy="96012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33172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93592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3593592" y="3657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Gradient Boosted Trees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639312" y="416052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Regularized GBDT — strong baseline for structured data with sparse + dense features.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364224" y="1691640"/>
            <a:ext cx="27889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364224" y="1691640"/>
            <a:ext cx="278892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78624" y="2103120"/>
            <a:ext cx="960120" cy="96012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233172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01384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6501384" y="3657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Feed-Forward Neural Net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547104" y="416052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3-layer MLP (128→64→32) on the tabular feature matrix; learns higher-order interactions from data.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272016" y="1691640"/>
            <a:ext cx="27889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272016" y="1691640"/>
            <a:ext cx="278892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0186416" y="2103120"/>
            <a:ext cx="960120" cy="96012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5016" y="2331720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409176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9409176" y="3657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Recurrent Neural Net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9454896" y="416052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Two-layer LSTM over 6-month sequences — only model that consumes raw temporal trajectory.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  •  Final Project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657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73736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691640"/>
          <a:ext cx="4023360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Model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AUC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F1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Acc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LGBM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2A4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0.763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0.685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0.685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XGBoost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0.762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0.681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0.696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ANN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0.752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0.688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0.699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LSTM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0.728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0.679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0.652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3886200"/>
            <a:ext cx="4023360" cy="21031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589520" y="3886200"/>
            <a:ext cx="91440" cy="2103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411480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66760" y="4087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7863840" y="4526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7863840" y="5120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AUC 0.763 — narrow lead, but consistently strong across all four metrics. Selected for the production recommender.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  •  Final Project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657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FEATURE IMPORTANCE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Churn?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548640" y="1691640"/>
          <a:ext cx="69494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726680" y="169164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26680" y="1691640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dominates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2103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Days since last purchase is the single strongest signal — confirms that lapsed activity is the earliest, clearest churn indicator.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26680" y="324612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26680" y="3246120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beats depth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3657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Unique SKU count outranks frequency. Customers exploring a wider catalogue are stickier than those repeating a narrow basket.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26680" y="480060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26680" y="4800600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0" y="4892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regularity matters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955280" y="5212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Std day-of-week and CV of gap quantify rhythm. Erratic buyers churn more often than steady ones, even at equal volume.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  •  Final Project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657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•  ASSOCIATION RULES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— From Baskets to Cross-Sell Rules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Apriori scans every invoice in the cleaned transaction log to find products that co-occur frequently. Each frequent itemset is converted into a rule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00" cy="5029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68880"/>
            <a:ext cx="9144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688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{</a:t>
            </a:r>
            <a:r>
              <a:rPr lang="en-US" sz="13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 bought</a:t>
            </a: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THEN {</a:t>
            </a:r>
            <a:r>
              <a:rPr lang="en-US" sz="13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likely to buy</a:t>
            </a: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metrics rank every rule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474720"/>
            <a:ext cx="91440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38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840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 ∪ 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347472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often the combination appears across all baskets.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261104"/>
            <a:ext cx="91440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325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6268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P(B | 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40280" y="426110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customers who buy A, the share who also buy B.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047488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5047488"/>
            <a:ext cx="91440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114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54132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Conf(A→B) / P(B)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40280" y="50474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much A boosts B versus its baseline frequency.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971032"/>
            <a:ext cx="5486400" cy="457200"/>
          </a:xfrm>
          <a:prstGeom prst="rect">
            <a:avLst/>
          </a:prstGeom>
          <a:solidFill>
            <a:srgbClr val="EA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9710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Config:  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min_support = 0.02   •   min_confidence = 0.30   •   min_lift = 1.20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1691640"/>
            <a:ext cx="5212080" cy="457200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1691640"/>
            <a:ext cx="521208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PLUGGING INTO THE CHURN MODEL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256032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452360" y="2514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customers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52360" y="27980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LGBM outputs churn probability per customer.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08876" y="3072384"/>
            <a:ext cx="18288" cy="137160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3319272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452360" y="32735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at-risk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52360" y="35570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Keep customers with p ≥ 0.50.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08876" y="3831336"/>
            <a:ext cx="18288" cy="137160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0" y="4078224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452360" y="40325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purchase history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452360" y="4315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Take each churner's top-3 most-bought products.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008876" y="4590288"/>
            <a:ext cx="18288" cy="137160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4837176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4837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452360" y="47914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Apriori rules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452360" y="5074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Filter rules whose antecedent contains a top product.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008876" y="5349240"/>
            <a:ext cx="18288" cy="137160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0" y="5596128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0" y="5596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452360" y="55504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&amp; promote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452360" y="5833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Surface top-3 consequents, pair with tier offer.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  •  Final Project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657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•  ASSOCIATION RULES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— From Baskets to Cross-Sell Rules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  •  Final Project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13</a:t>
            </a:r>
            <a:endParaRPr lang="en-US" sz="900" dirty="0"/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E9CF354F-13E5-8846-9639-0CDAB8744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8800" y="1496568"/>
            <a:ext cx="8155940" cy="455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860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657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•  FROM PREDICTION TO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Retention Engine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360669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91640" y="1874520"/>
            <a:ext cx="232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240280"/>
            <a:ext cx="2326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LGBM probabilities flag predicted churners (≥ 0.50).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2498" y="1691640"/>
            <a:ext cx="360669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109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35498" y="1874520"/>
            <a:ext cx="232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35498" y="2240280"/>
            <a:ext cx="2326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Tier customers High / Medium / Low by monetary quantile.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36357" y="1691640"/>
            <a:ext cx="360669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64957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79357" y="1874520"/>
            <a:ext cx="232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79357" y="2240280"/>
            <a:ext cx="2326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Apriori rules surface complementary products per buyer.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mapping by value tier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606698" cy="237744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657600"/>
            <a:ext cx="3606698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12464"/>
            <a:ext cx="36066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2976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loyalty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22960" y="484632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20% off entire basket + free priority shipping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2498" y="3657600"/>
            <a:ext cx="3606698" cy="2377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2498" y="3657600"/>
            <a:ext cx="3606698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2498" y="3712464"/>
            <a:ext cx="36066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66818" y="42976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Comeback offer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566818" y="484632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AF2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15% off your favourite categories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36357" y="3657600"/>
            <a:ext cx="360669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36357" y="3657600"/>
            <a:ext cx="3606698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36357" y="3712464"/>
            <a:ext cx="36066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10677" y="42976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310677" y="484632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£5 off next purchase (min. £20 spend)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  •  Final 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657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•  DELIVERY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Dashboard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91640"/>
            <a:ext cx="27432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E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2,254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Routed into 3 retention tiers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56432" y="169164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56432" y="1691640"/>
            <a:ext cx="27432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E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£1.35M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39312" y="2560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9312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Addressable via personalized offers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364992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64992"/>
            <a:ext cx="27432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935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E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0.763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1520" y="42336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of best 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507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LightGBM, hold-out test set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56432" y="3364992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56432" y="3364992"/>
            <a:ext cx="27432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9312" y="35935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E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639312" y="42336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driving the model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39312" y="4507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Pruned from ~40 candidates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1691640"/>
            <a:ext cx="5257800" cy="320040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  <a:effectLst>
            <a:outerShdw blurRad="101600" dist="25400" dir="5400000" algn="bl" rotWithShape="0">
              <a:srgbClr val="0E2A47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55080" y="1691640"/>
            <a:ext cx="525780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1920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INTELLIGENCE DASHBOARD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+ Recharts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720840" y="283464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Performance — metrics, bar chart, importance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Outcomes — KPI cards, churn distribution, customer table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What-If Tools — threshold slider, retention simulator, PR curve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Dashboard — revenue trend, country chart, actions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074920"/>
            <a:ext cx="11094415" cy="1234440"/>
          </a:xfrm>
          <a:prstGeom prst="rect">
            <a:avLst/>
          </a:prstGeom>
          <a:solidFill>
            <a:srgbClr val="EAF2F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074920"/>
            <a:ext cx="9144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184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levers exposed to the business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Marketing teams can adjust the churn-probability cutoff to trade campaign volume against precision, simulate retention rates per tier, and export the per-customer recommendation list (CSV) directly into their CRM workflow.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  •  Final Project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•  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&amp; Future 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5212080" cy="42976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54864" cy="4297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showed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56032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end-to-end ML pipeline that turns raw retail transactions into per-customer retention actions.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Recency, breadth of catalogue and cadence regularity are the strongest churn signals — beating raw frequency.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LightGBM matches deep models on this tabular regime (AUC 0.763) at a fraction of the training cost.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Outputs are productionised through a FastAPI + React dashboard, exposing a threshold lever for the business.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5212080" cy="42976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28800"/>
            <a:ext cx="54864" cy="4297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take it next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256032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A/B test the tier-specific promotions to measure causal lift versus a held-out control.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Explore survival-analysis framing (time-to-churn) for richer scheduling of outreach.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 embedding features over product text — push beyond ID-level association rules.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Move to streaming features so the model scores customers in near-real-time.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6080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10452</TotalTime>
  <Words>1479</Words>
  <Application>Microsoft Macintosh PowerPoint</Application>
  <PresentationFormat>Widescreen</PresentationFormat>
  <Paragraphs>301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&amp; Personalized Retention</dc:title>
  <dc:subject>PptxGenJS Presentation</dc:subject>
  <dc:creator>Peerachai</dc:creator>
  <cp:lastModifiedBy>peerachai arunsuriyasak</cp:lastModifiedBy>
  <cp:revision>3</cp:revision>
  <dcterms:created xsi:type="dcterms:W3CDTF">2026-05-01T07:33:22Z</dcterms:created>
  <dcterms:modified xsi:type="dcterms:W3CDTF">2026-05-08T13:47:31Z</dcterms:modified>
</cp:coreProperties>
</file>